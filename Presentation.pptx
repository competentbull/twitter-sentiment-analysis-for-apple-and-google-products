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77" r:id="rId9"/>
    <p:sldId id="278" r:id="rId10"/>
    <p:sldId id="262" r:id="rId11"/>
    <p:sldId id="263" r:id="rId12"/>
    <p:sldId id="264" r:id="rId13"/>
    <p:sldId id="265" r:id="rId14"/>
    <p:sldId id="266" r:id="rId15"/>
    <p:sldId id="276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59" d="100"/>
          <a:sy n="59" d="100"/>
        </p:scale>
        <p:origin x="10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67266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8703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54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451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3547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70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65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GB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52313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6487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229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893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E83700-B7FB-44A5-947F-DEDA08F8B1DD}" type="datetimeFigureOut">
              <a:rPr lang="en-GB" smtClean="0"/>
              <a:t>14/06/2026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1B8CE1C-2B4E-4EA4-8A59-4325689DC43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438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C9B3C-3A86-4E8E-6397-35364F14AF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64362" y="1089777"/>
            <a:ext cx="9068586" cy="2590800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Predicting Customer Sentiment from Twitter Posts</a:t>
            </a:r>
            <a:b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4400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7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Apple and Google Product Sentiment Analysis</a:t>
            </a:r>
            <a:br>
              <a:rPr lang="en-US" sz="44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4A93D0-73CA-804C-E84F-0421F5271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9329" y="3560833"/>
            <a:ext cx="9070848" cy="457201"/>
          </a:xfrm>
        </p:spPr>
        <p:txBody>
          <a:bodyPr>
            <a:noAutofit/>
          </a:bodyPr>
          <a:lstStyle/>
          <a:p>
            <a:br>
              <a:rPr lang="en-US" sz="3600" dirty="0">
                <a:effectLst/>
              </a:rPr>
            </a:br>
            <a:r>
              <a:rPr lang="en-US" sz="3600" dirty="0">
                <a:effectLst/>
              </a:rPr>
              <a:t>Name: </a:t>
            </a:r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Chris Mau </a:t>
            </a:r>
            <a:r>
              <a:rPr lang="en-US" sz="36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Karagu</a:t>
            </a:r>
            <a:endParaRPr lang="en-US" sz="36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3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 4 Project</a:t>
            </a:r>
            <a:endParaRPr lang="en-GB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3743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ABE87-A2A0-65DF-7399-BEFA97F49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84387-E00E-A3DE-E88B-66DD67B8F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Apple and Google products generate thousands of online discussions.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Understanding customer sentiment manually is difficult.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project uses machine learning to classify tweets 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Positive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Neutral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Negative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goal is to help organizations better understand customer opinions and identify areas requiring attention.</a:t>
            </a:r>
          </a:p>
        </p:txBody>
      </p:sp>
    </p:spTree>
    <p:extLst>
      <p:ext uri="{BB962C8B-B14F-4D97-AF65-F5344CB8AC3E}">
        <p14:creationId xmlns:p14="http://schemas.microsoft.com/office/powerpoint/2010/main" val="2675608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E2AF3-7FA8-30E7-BDA2-CBDB0BE3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57D21-1DB3-AFEA-2690-AC432F06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Companies need to understand how customers feel about their products.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Reviewing thousands of tweets manually is time-consuming.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Negative sentiment may indicate product issues or customer dissatisfaction.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The project aims to automate sentiment classification using machine learning.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400" b="1" dirty="0">
                <a:latin typeface="Arial" panose="020B0604020202020204" pitchFamily="34" charset="0"/>
                <a:cs typeface="Arial" panose="020B0604020202020204" pitchFamily="34" charset="0"/>
              </a:rPr>
              <a:t>Stakeholders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Marketing Teams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Product Development Teams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sz="3400" dirty="0">
                <a:latin typeface="Arial" panose="020B0604020202020204" pitchFamily="34" charset="0"/>
                <a:cs typeface="Arial" panose="020B0604020202020204" pitchFamily="34" charset="0"/>
              </a:rPr>
              <a:t>Customer Experience Teams</a:t>
            </a:r>
          </a:p>
          <a:p>
            <a:endParaRPr lang="en-GB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663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A7679-A7BF-B037-212D-BB58424AC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Understanding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806ED34-69F4-9E6C-25A6-792B878A9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0229" y="2079293"/>
            <a:ext cx="11168742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contains 8,914 tweets.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Tweets discuss Apple and Google products.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tweet labeled as Positive, Neutral, or Negative.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cleaned before analysis.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Observation: Neutral tweets represent the largest class. </a:t>
            </a:r>
          </a:p>
        </p:txBody>
      </p:sp>
    </p:spTree>
    <p:extLst>
      <p:ext uri="{BB962C8B-B14F-4D97-AF65-F5344CB8AC3E}">
        <p14:creationId xmlns:p14="http://schemas.microsoft.com/office/powerpoint/2010/main" val="14228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29EAD-D5DC-65B9-AC1D-7BF3A1D82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Understanding: Sentiment distribution chart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4137416-A766-94A5-B07F-9B179F4B46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171" y="2103438"/>
            <a:ext cx="8338458" cy="4264705"/>
          </a:xfrm>
        </p:spPr>
      </p:pic>
    </p:spTree>
    <p:extLst>
      <p:ext uri="{BB962C8B-B14F-4D97-AF65-F5344CB8AC3E}">
        <p14:creationId xmlns:p14="http://schemas.microsoft.com/office/powerpoint/2010/main" val="256256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1C31-5EE7-8EDD-2E43-F217D4263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Data Preparation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EA1684-9546-4694-3E65-7F9D624BD9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72887" y="2527626"/>
            <a:ext cx="11168742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missing values and duplicates.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tweet text.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Removed URLs and punctuation.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Converted text into numerical features using TF-IDF.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Prepared data for machine learning models. </a:t>
            </a:r>
          </a:p>
        </p:txBody>
      </p:sp>
    </p:spTree>
    <p:extLst>
      <p:ext uri="{BB962C8B-B14F-4D97-AF65-F5344CB8AC3E}">
        <p14:creationId xmlns:p14="http://schemas.microsoft.com/office/powerpoint/2010/main" val="51998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32B9A-1148-EB64-03ED-CE6169274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5F01-4DEB-7C6C-8C0E-5DD209FB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Final Sentiment distribution chart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7C56019-99E1-F546-5C16-F6D462E031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4576" y="1861871"/>
            <a:ext cx="7599681" cy="4742337"/>
          </a:xfrm>
        </p:spPr>
      </p:pic>
    </p:spTree>
    <p:extLst>
      <p:ext uri="{BB962C8B-B14F-4D97-AF65-F5344CB8AC3E}">
        <p14:creationId xmlns:p14="http://schemas.microsoft.com/office/powerpoint/2010/main" val="2011993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75969-CCD4-79D8-992D-D8600745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89890-F0A7-35D4-4508-E41A00BF6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Modelling Approach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34F956-8FF1-5155-A7E6-7216B25BD0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3886" y="1959597"/>
            <a:ext cx="10776857" cy="4485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Why Classification?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Classification predicts tweet sentiment.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Models Tested:</a:t>
            </a:r>
          </a:p>
          <a:p>
            <a:pPr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❖ Dummy Classifier</a:t>
            </a:r>
          </a:p>
          <a:p>
            <a:pPr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❖ Logistic Regression</a:t>
            </a:r>
          </a:p>
          <a:p>
            <a:pPr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❖ Decision Tree</a:t>
            </a:r>
          </a:p>
          <a:p>
            <a:pPr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❖ Tuned Decision Tree</a:t>
            </a:r>
          </a:p>
          <a:p>
            <a:pPr>
              <a:buNone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❖ 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❖ Identify the model that best classifies tweet sentiment.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632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6C99F-F92F-C011-76F1-E1788DDC3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18FB-6A06-CEE7-44DE-41792AB4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Logistic Regression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45A59D-ADBC-C9ED-1FAB-E773908EB2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7314" y="2450065"/>
            <a:ext cx="11125200" cy="3531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Accuracy: 63.1%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Macro F1-Score: 0.56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Negative Recall: 56.1% </a:t>
            </a:r>
          </a:p>
          <a:p>
            <a:pPr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Why It Performed Well:</a:t>
            </a:r>
          </a:p>
          <a:p>
            <a:pPr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❖ Balanced performance across sentiment classes.</a:t>
            </a:r>
          </a:p>
          <a:p>
            <a:pPr marL="0" indent="0">
              <a:buNone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❖ Strong detection of negative tweets.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317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39017-8BCF-2B6C-BD87-0B3F8E768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55577"/>
          </a:xfrm>
        </p:spPr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Logistic Regression Results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4C7A9E5-A7F2-7B40-0379-B7931B614E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2229" y="1807029"/>
            <a:ext cx="7881257" cy="4782039"/>
          </a:xfrm>
        </p:spPr>
      </p:pic>
    </p:spTree>
    <p:extLst>
      <p:ext uri="{BB962C8B-B14F-4D97-AF65-F5344CB8AC3E}">
        <p14:creationId xmlns:p14="http://schemas.microsoft.com/office/powerpoint/2010/main" val="2110251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899B-188B-2732-2338-ABF015FE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 Comparison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EE1501-6E99-9F90-B37E-44B1CC0B43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1579938"/>
              </p:ext>
            </p:extLst>
          </p:nvPr>
        </p:nvGraphicFramePr>
        <p:xfrm>
          <a:off x="478972" y="2286000"/>
          <a:ext cx="9296400" cy="2377440"/>
        </p:xfrm>
        <a:graphic>
          <a:graphicData uri="http://schemas.openxmlformats.org/drawingml/2006/table">
            <a:tbl>
              <a:tblPr/>
              <a:tblGrid>
                <a:gridCol w="3098800">
                  <a:extLst>
                    <a:ext uri="{9D8B030D-6E8A-4147-A177-3AD203B41FA5}">
                      <a16:colId xmlns:a16="http://schemas.microsoft.com/office/drawing/2014/main" val="331531492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1326435094"/>
                    </a:ext>
                  </a:extLst>
                </a:gridCol>
                <a:gridCol w="3098800">
                  <a:extLst>
                    <a:ext uri="{9D8B030D-6E8A-4147-A177-3AD203B41FA5}">
                      <a16:colId xmlns:a16="http://schemas.microsoft.com/office/drawing/2014/main" val="2528164578"/>
                    </a:ext>
                  </a:extLst>
                </a:gridCol>
              </a:tblGrid>
              <a:tr h="364672">
                <a:tc>
                  <a:txBody>
                    <a:bodyPr/>
                    <a:lstStyle/>
                    <a:p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Macro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063489"/>
                  </a:ext>
                </a:extLst>
              </a:tr>
              <a:tr h="364672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Dummy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9175196"/>
                  </a:ext>
                </a:extLst>
              </a:tr>
              <a:tr h="364672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Logistic Regression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289293"/>
                  </a:ext>
                </a:extLst>
              </a:tr>
              <a:tr h="364672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3490405"/>
                  </a:ext>
                </a:extLst>
              </a:tr>
              <a:tr h="364672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Tuned Decision Tree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5974992"/>
                  </a:ext>
                </a:extLst>
              </a:tr>
              <a:tr h="364672"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5275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FBA6FB-FB75-5566-A44D-C81E06FBF384}"/>
              </a:ext>
            </a:extLst>
          </p:cNvPr>
          <p:cNvSpPr txBox="1"/>
          <p:nvPr/>
        </p:nvSpPr>
        <p:spPr>
          <a:xfrm>
            <a:off x="370113" y="5094514"/>
            <a:ext cx="646611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Conclusion:</a:t>
            </a:r>
          </a:p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Logistic Regression achieved the best overall balance.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• Selected as final model.</a:t>
            </a:r>
          </a:p>
        </p:txBody>
      </p:sp>
    </p:spTree>
    <p:extLst>
      <p:ext uri="{BB962C8B-B14F-4D97-AF65-F5344CB8AC3E}">
        <p14:creationId xmlns:p14="http://schemas.microsoft.com/office/powerpoint/2010/main" val="3512529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AF02B-1F96-0338-C63A-0647CAE79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288607"/>
          </a:xfrm>
        </p:spPr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Model Performance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D698D4-195E-E740-5BBF-3B5D1B6F9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931201"/>
            <a:ext cx="9590314" cy="4613041"/>
          </a:xfrm>
        </p:spPr>
      </p:pic>
    </p:spTree>
    <p:extLst>
      <p:ext uri="{BB962C8B-B14F-4D97-AF65-F5344CB8AC3E}">
        <p14:creationId xmlns:p14="http://schemas.microsoft.com/office/powerpoint/2010/main" val="3994467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96EDD-6999-42E2-8212-666D0C75D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099120"/>
          </a:xfrm>
        </p:spPr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DA3A5-4FB6-0634-C0DB-6D6A596F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741714"/>
            <a:ext cx="10265229" cy="474617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Important Findings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❖ Positive tweets often contained words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great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awesome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love </a:t>
            </a:r>
          </a:p>
          <a:p>
            <a:pPr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❖ Negative tweets often contained words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fail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headache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hate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Business Meaning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Social media sentiment provides valuable customer feedback.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Negative sentiment can highlight customer concerns and product issues.</a:t>
            </a:r>
          </a:p>
          <a:p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67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3D7E7-5061-B650-399C-63DE7DF6B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49366-B793-9DFA-FAC0-78986B630E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Monitor social media sentiment regularly.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Investigate recurring negative feedback.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Use sentiment trends to support product improvements.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Track customer reactions after product launches.</a:t>
            </a:r>
          </a:p>
          <a:p>
            <a:endParaRPr lang="en-GB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9355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C4BCE-5030-A56F-C308-C1F2D8E5B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BD239-2892-023C-8B15-6198165C1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Expand the dataset with newer tweets.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Explore advanced NLP models such as BERT.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Integrate sentiment monitoring into business dashboards.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Continuously retrain the model with updated data.</a:t>
            </a:r>
          </a:p>
          <a:p>
            <a:endParaRPr lang="en-GB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309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171183-795B-15F5-0562-CA108B95B9D8}"/>
              </a:ext>
            </a:extLst>
          </p:cNvPr>
          <p:cNvSpPr txBox="1"/>
          <p:nvPr/>
        </p:nvSpPr>
        <p:spPr>
          <a:xfrm>
            <a:off x="1763486" y="2362200"/>
            <a:ext cx="738051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6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126387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178</TotalTime>
  <Words>440</Words>
  <Application>Microsoft Office PowerPoint</Application>
  <PresentationFormat>Widescreen</PresentationFormat>
  <Paragraphs>101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Century Gothic</vt:lpstr>
      <vt:lpstr>Courier New</vt:lpstr>
      <vt:lpstr>Garamond</vt:lpstr>
      <vt:lpstr>Wingdings</vt:lpstr>
      <vt:lpstr>Savon</vt:lpstr>
      <vt:lpstr>Predicting Customer Sentiment from Twitter Posts  Apple and Google Product Sentiment Analysis </vt:lpstr>
      <vt:lpstr>Overview</vt:lpstr>
      <vt:lpstr>Business Problem</vt:lpstr>
      <vt:lpstr>Data Understanding</vt:lpstr>
      <vt:lpstr>Data Understanding: Sentiment distribution chart</vt:lpstr>
      <vt:lpstr>Data Preparation</vt:lpstr>
      <vt:lpstr>Final Sentiment distribution chart</vt:lpstr>
      <vt:lpstr>Modelling Approach</vt:lpstr>
      <vt:lpstr>Logistic Regression Results</vt:lpstr>
      <vt:lpstr>Logistic Regression Results</vt:lpstr>
      <vt:lpstr>Model Comparison</vt:lpstr>
      <vt:lpstr>Model Performance Comparison</vt:lpstr>
      <vt:lpstr>Key Insights</vt:lpstr>
      <vt:lpstr>Business Recommendations</vt:lpstr>
      <vt:lpstr>Next Steps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Sparkwave</dc:creator>
  <cp:lastModifiedBy>Sparkwave</cp:lastModifiedBy>
  <cp:revision>3</cp:revision>
  <cp:lastPrinted>2026-06-14T07:57:17Z</cp:lastPrinted>
  <dcterms:created xsi:type="dcterms:W3CDTF">2026-05-05T13:12:50Z</dcterms:created>
  <dcterms:modified xsi:type="dcterms:W3CDTF">2026-06-14T08:23:42Z</dcterms:modified>
</cp:coreProperties>
</file>